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3"/>
    <p:sldId id="259" r:id="rId4"/>
    <p:sldId id="260" r:id="rId5"/>
    <p:sldId id="261" r:id="rId6"/>
    <p:sldId id="262"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A8B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5" d="100"/>
          <a:sy n="65" d="100"/>
        </p:scale>
        <p:origin x="85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viewProps" Target="viewProps.xml"/><Relationship Id="rId8" Type="http://schemas.openxmlformats.org/officeDocument/2006/relationships/presProps" Target="presProps.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3" Type="http://schemas.openxmlformats.org/officeDocument/2006/relationships/customXml" Target="../customXml/item3.xml"/><Relationship Id="rId12" Type="http://schemas.openxmlformats.org/officeDocument/2006/relationships/customXml" Target="../customXml/item2.xml"/><Relationship Id="rId11" Type="http://schemas.openxmlformats.org/officeDocument/2006/relationships/customXml" Target="../customXml/item1.xml"/><Relationship Id="rId10" Type="http://schemas.openxmlformats.org/officeDocument/2006/relationships/tableStyles" Target="tableStyles.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10" name="Rectangle 9"/>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p:txBody>
          <a:bodyPr/>
          <a:lstStyle/>
          <a:p>
            <a:fld id="{9184DA70-C731-4C70-880D-CCD4705E623C}" type="datetime1">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4BE1D723-8F53-4F53-90B0-1982A396982E}" type="datetime1">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cxnSp>
        <p:nvCxnSpPr>
          <p:cNvPr id="9" name="Straight Connector 8"/>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p:cNvSpPr>
            <a:spLocks noGrp="1"/>
          </p:cNvSpPr>
          <p:nvPr>
            <p:ph type="dt" sz="half" idx="10"/>
          </p:nvPr>
        </p:nvSpPr>
        <p:spPr/>
        <p:txBody>
          <a:bodyPr/>
          <a:lstStyle/>
          <a:p>
            <a:fld id="{97669AF7-7BEB-44E4-9852-375E34362B5B}" type="datetime1">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11" name="Slide Number Placeholder 10"/>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2" name="Date Placeholder 1"/>
          <p:cNvSpPr>
            <a:spLocks noGrp="1"/>
          </p:cNvSpPr>
          <p:nvPr>
            <p:ph type="dt" sz="half" idx="10"/>
          </p:nvPr>
        </p:nvSpPr>
        <p:spPr/>
        <p:txBody>
          <a:bodyPr/>
          <a:lstStyle/>
          <a:p>
            <a:fld id="{BAAAC38D-0552-4C82-B593-E6124DFADBE2}" type="datetime1">
              <a:rPr lang="en-US" smtClean="0"/>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2" name="Date Placeholder 1"/>
          <p:cNvSpPr>
            <a:spLocks noGrp="1"/>
          </p:cNvSpPr>
          <p:nvPr>
            <p:ph type="dt" sz="half" idx="10"/>
          </p:nvPr>
        </p:nvSpPr>
        <p:spPr/>
        <p:txBody>
          <a:bodyPr/>
          <a:lstStyle/>
          <a:p>
            <a:fld id="{D9DF0F1C-5577-4ACB-BB62-DF8F3C494C7E}" type="datetime1">
              <a:rPr lang="en-US" smtClean="0"/>
            </a:fld>
            <a:endParaRPr lang="en-US" dirty="0"/>
          </a:p>
        </p:txBody>
      </p:sp>
      <p:sp>
        <p:nvSpPr>
          <p:cNvPr id="11" name="Footer Placeholder 10"/>
          <p:cNvSpPr>
            <a:spLocks noGrp="1"/>
          </p:cNvSpPr>
          <p:nvPr>
            <p:ph type="ftr" sz="quarter" idx="11"/>
          </p:nvPr>
        </p:nvSpPr>
        <p:spPr/>
        <p:txBody>
          <a:bodyPr/>
          <a:lstStyle/>
          <a:p>
            <a:endParaRPr lang="en-US" dirty="0"/>
          </a:p>
        </p:txBody>
      </p:sp>
      <p:sp>
        <p:nvSpPr>
          <p:cNvPr id="12" name="Slide Number Placeholder 11"/>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p:cNvSpPr>
            <a:spLocks noGrp="1"/>
          </p:cNvSpPr>
          <p:nvPr>
            <p:ph type="dt" sz="half" idx="10"/>
          </p:nvPr>
        </p:nvSpPr>
        <p:spPr/>
        <p:txBody>
          <a:bodyPr/>
          <a:lstStyle/>
          <a:p>
            <a:fld id="{1775B394-D9F9-4F0C-B15D-605F45CB9E9F}" type="datetime1">
              <a:rPr lang="en-US" smtClean="0"/>
            </a:fld>
            <a:endParaRPr lang="en-US" dirty="0"/>
          </a:p>
        </p:txBody>
      </p:sp>
      <p:sp>
        <p:nvSpPr>
          <p:cNvPr id="7" name="Footer Placeholder 6"/>
          <p:cNvSpPr>
            <a:spLocks noGrp="1"/>
          </p:cNvSpPr>
          <p:nvPr>
            <p:ph type="ftr" sz="quarter" idx="11"/>
          </p:nvPr>
        </p:nvSpPr>
        <p:spPr/>
        <p:txBody>
          <a:bodyPr/>
          <a:lstStyle/>
          <a:p>
            <a:endParaRPr lang="en-US" dirty="0"/>
          </a:p>
        </p:txBody>
      </p:sp>
      <p:sp>
        <p:nvSpPr>
          <p:cNvPr id="8" name="Slide Number Placeholder 7"/>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10" name="Rectangle 9"/>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39667345-2558-425A-8533-9BFDBCE15005}" type="datetime1">
              <a:rPr lang="en-US" smtClean="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8" name="Rectangle 7"/>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8" name="Rectangle 7"/>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B612A279-0833-481D-8C56-F67FD0AC6C50}" type="datetime1">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spTree>
      <p:nvGrpSpPr>
        <p:cNvPr id="1" name=""/>
        <p:cNvGrpSpPr/>
        <p:nvPr/>
      </p:nvGrpSpPr>
      <p:grpSpPr>
        <a:xfrm>
          <a:off x="0" y="0"/>
          <a:ext cx="0" cy="0"/>
          <a:chOff x="0" y="0"/>
          <a:chExt cx="0" cy="0"/>
        </a:xfrm>
      </p:grpSpPr>
      <p:sp>
        <p:nvSpPr>
          <p:cNvPr id="9" name="Rectangle 8"/>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6587DA83-5663-4C9C-B9AA-0B40A3DAFF81}" type="datetime1">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fld>
            <a:endParaRPr lang="en-US" dirty="0"/>
          </a:p>
        </p:txBody>
      </p:sp>
      <p:cxnSp>
        <p:nvCxnSpPr>
          <p:cNvPr id="10" name="Straight Connector 9"/>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100000"/>
        </a:lnSpc>
        <a:spcBef>
          <a:spcPts val="200"/>
        </a:spcBef>
        <a:spcAft>
          <a:spcPts val="400"/>
        </a:spcAft>
        <a:buClrTx/>
        <a:buFont typeface="Calibri" panose="020F0502020204030204" pitchFamily="34" charset="0"/>
        <a:buChar char="◦"/>
        <a:defRPr sz="17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100000"/>
        </a:lnSpc>
        <a:spcBef>
          <a:spcPts val="200"/>
        </a:spcBef>
        <a:spcAft>
          <a:spcPts val="400"/>
        </a:spcAft>
        <a:buClrTx/>
        <a:buFont typeface="Calibri" panose="020F0502020204030204" pitchFamily="34" charset="0"/>
        <a:buChar char="◦"/>
        <a:defRPr sz="13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100000"/>
        </a:lnSpc>
        <a:spcBef>
          <a:spcPts val="200"/>
        </a:spcBef>
        <a:spcAft>
          <a:spcPts val="400"/>
        </a:spcAft>
        <a:buClrTx/>
        <a:buFont typeface="Calibri" panose="020F0502020204030204" pitchFamily="34" charset="0"/>
        <a:buChar char="◦"/>
        <a:defRPr sz="13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100000"/>
        </a:lnSpc>
        <a:spcBef>
          <a:spcPts val="200"/>
        </a:spcBef>
        <a:spcAft>
          <a:spcPts val="400"/>
        </a:spcAft>
        <a:buClrTx/>
        <a:buFont typeface="Calibri" panose="020F0502020204030204" pitchFamily="34" charset="0"/>
        <a:buChar char="◦"/>
        <a:defRPr sz="13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p:cNvSpPr>
            <a:spLocks noGrp="1" noRot="1" noChangeAspect="1" noMove="1" noResize="1" noEditPoints="1" noAdjustHandles="1" noChangeArrowheads="1" noChangeShapeType="1" noTextEdit="1"/>
          </p:cNvSpPr>
          <p:nvPr/>
        </p:nvSpPr>
        <p:spPr>
          <a:xfrm>
            <a:off x="0" y="1"/>
            <a:ext cx="12192001"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5289754" y="639097"/>
            <a:ext cx="6253317" cy="3686015"/>
          </a:xfrm>
        </p:spPr>
        <p:txBody>
          <a:bodyPr>
            <a:normAutofit/>
          </a:bodyPr>
          <a:lstStyle/>
          <a:p>
            <a:r>
              <a:rPr lang="en-US" sz="8000" dirty="0"/>
              <a:t>Break-even Analysis for </a:t>
            </a:r>
            <a:br>
              <a:rPr lang="en-US" sz="8000" dirty="0"/>
            </a:br>
            <a:r>
              <a:rPr lang="en-US" sz="8000" dirty="0"/>
              <a:t>Swift Drink</a:t>
            </a:r>
            <a:endParaRPr lang="en-US" sz="8000" dirty="0"/>
          </a:p>
        </p:txBody>
      </p:sp>
      <p:sp>
        <p:nvSpPr>
          <p:cNvPr id="3" name="Subtitle 2"/>
          <p:cNvSpPr>
            <a:spLocks noGrp="1"/>
          </p:cNvSpPr>
          <p:nvPr>
            <p:ph type="subTitle" idx="1"/>
          </p:nvPr>
        </p:nvSpPr>
        <p:spPr>
          <a:xfrm>
            <a:off x="5289753" y="4672738"/>
            <a:ext cx="6269347" cy="1669065"/>
          </a:xfrm>
        </p:spPr>
        <p:txBody>
          <a:bodyPr>
            <a:normAutofit/>
          </a:bodyPr>
          <a:lstStyle/>
          <a:p>
            <a:r>
              <a:rPr lang="en-US" sz="2400" dirty="0">
                <a:solidFill>
                  <a:schemeClr val="tx1">
                    <a:lumMod val="85000"/>
                    <a:lumOff val="15000"/>
                  </a:schemeClr>
                </a:solidFill>
              </a:rPr>
              <a:t>Sebestian | </a:t>
            </a:r>
            <a:r>
              <a:rPr lang="en-US" sz="2400" dirty="0" err="1">
                <a:solidFill>
                  <a:schemeClr val="tx1">
                    <a:lumMod val="85000"/>
                    <a:lumOff val="15000"/>
                  </a:schemeClr>
                </a:solidFill>
              </a:rPr>
              <a:t>laurie</a:t>
            </a:r>
            <a:r>
              <a:rPr lang="en-US" sz="2400" dirty="0">
                <a:solidFill>
                  <a:schemeClr val="tx1">
                    <a:lumMod val="85000"/>
                    <a:lumOff val="15000"/>
                  </a:schemeClr>
                </a:solidFill>
              </a:rPr>
              <a:t> | </a:t>
            </a:r>
            <a:r>
              <a:rPr lang="en-US" sz="2400" dirty="0" err="1">
                <a:solidFill>
                  <a:schemeClr val="tx1">
                    <a:lumMod val="85000"/>
                    <a:lumOff val="15000"/>
                  </a:schemeClr>
                </a:solidFill>
              </a:rPr>
              <a:t>leida</a:t>
            </a:r>
            <a:r>
              <a:rPr lang="en-US" sz="2400" dirty="0">
                <a:solidFill>
                  <a:schemeClr val="tx1">
                    <a:lumMod val="85000"/>
                    <a:lumOff val="15000"/>
                  </a:schemeClr>
                </a:solidFill>
              </a:rPr>
              <a:t> | </a:t>
            </a:r>
            <a:r>
              <a:rPr lang="en-US" sz="2400" dirty="0" err="1">
                <a:solidFill>
                  <a:schemeClr val="tx1">
                    <a:lumMod val="85000"/>
                    <a:lumOff val="15000"/>
                  </a:schemeClr>
                </a:solidFill>
              </a:rPr>
              <a:t>milfort</a:t>
            </a:r>
            <a:r>
              <a:rPr lang="en-US" sz="2400" dirty="0">
                <a:solidFill>
                  <a:schemeClr val="tx1">
                    <a:lumMod val="85000"/>
                    <a:lumOff val="15000"/>
                  </a:schemeClr>
                </a:solidFill>
              </a:rPr>
              <a:t> | </a:t>
            </a:r>
            <a:r>
              <a:rPr lang="en-US" sz="2400" dirty="0" err="1">
                <a:solidFill>
                  <a:schemeClr val="tx1">
                    <a:lumMod val="85000"/>
                    <a:lumOff val="15000"/>
                  </a:schemeClr>
                </a:solidFill>
              </a:rPr>
              <a:t>ardon</a:t>
            </a:r>
            <a:endParaRPr lang="en-US" sz="2400" dirty="0">
              <a:solidFill>
                <a:schemeClr val="tx1">
                  <a:lumMod val="85000"/>
                  <a:lumOff val="15000"/>
                </a:schemeClr>
              </a:solidFill>
            </a:endParaRPr>
          </a:p>
        </p:txBody>
      </p:sp>
      <p:pic>
        <p:nvPicPr>
          <p:cNvPr id="5" name="Picture 4" descr="A picture containing building, sitting, bench, side&#10;&#10;Description automatically generated"/>
          <p:cNvPicPr>
            <a:picLocks noChangeAspect="1"/>
          </p:cNvPicPr>
          <p:nvPr/>
        </p:nvPicPr>
        <p:blipFill rotWithShape="1">
          <a:blip r:embed="rId1">
            <a:extLst>
              <a:ext uri="{28A0092B-C50C-407E-A947-70E740481C1C}">
                <a14:useLocalDpi xmlns:a14="http://schemas.microsoft.com/office/drawing/2010/main" val="0"/>
              </a:ext>
            </a:extLst>
          </a:blip>
          <a:srcRect/>
          <a:stretch>
            <a:fillRect/>
          </a:stretch>
        </p:blipFill>
        <p:spPr>
          <a:xfrm>
            <a:off x="-1" y="1"/>
            <a:ext cx="4635315" cy="6857999"/>
          </a:xfrm>
          <a:prstGeom prst="rect">
            <a:avLst/>
          </a:prstGeom>
        </p:spPr>
      </p:pic>
      <p:cxnSp>
        <p:nvCxnSpPr>
          <p:cNvPr id="24" name="Straight Connector 23"/>
          <p:cNvCxnSpPr>
            <a:cxnSpLocks noGrp="1" noRot="1" noChangeAspect="1" noMove="1" noResize="1" noEditPoints="1" noAdjustHandles="1" noChangeArrowheads="1" noChangeShapeType="1"/>
          </p:cNvCxnSpPr>
          <p:nvPr/>
        </p:nvCxnSpPr>
        <p:spPr>
          <a:xfrm>
            <a:off x="5427754" y="4498925"/>
            <a:ext cx="5636107"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91886" y="145143"/>
            <a:ext cx="11800114" cy="595086"/>
          </a:xfrm>
        </p:spPr>
        <p:txBody>
          <a:bodyPr>
            <a:normAutofit fontScale="90000"/>
          </a:bodyPr>
          <a:lstStyle/>
          <a:p>
            <a:r>
              <a:rPr lang="en-US" dirty="0"/>
              <a:t>OBJECTIVE</a:t>
            </a:r>
            <a:endParaRPr lang="en-US" dirty="0"/>
          </a:p>
        </p:txBody>
      </p:sp>
      <p:sp>
        <p:nvSpPr>
          <p:cNvPr id="3" name="Content Placeholder 2"/>
          <p:cNvSpPr>
            <a:spLocks noGrp="1"/>
          </p:cNvSpPr>
          <p:nvPr>
            <p:ph idx="4294967295"/>
          </p:nvPr>
        </p:nvSpPr>
        <p:spPr>
          <a:xfrm>
            <a:off x="391886" y="740229"/>
            <a:ext cx="11800114" cy="5128759"/>
          </a:xfrm>
        </p:spPr>
        <p:txBody>
          <a:bodyPr>
            <a:noAutofit/>
          </a:bodyPr>
          <a:lstStyle/>
          <a:p>
            <a:r>
              <a:rPr lang="en-US" sz="1500" dirty="0"/>
              <a:t>Ana,</a:t>
            </a:r>
            <a:endParaRPr lang="en-US" sz="1500" dirty="0"/>
          </a:p>
          <a:p>
            <a:r>
              <a:rPr lang="en-US" sz="1500" dirty="0"/>
              <a:t>You already know why we’re stepping forward — I want to win your special prize and secure your matching donation for Relief Aid in the amount of </a:t>
            </a:r>
            <a:r>
              <a:rPr lang="en-US" sz="1500" b="1" dirty="0"/>
              <a:t>$2,735.22</a:t>
            </a:r>
            <a:r>
              <a:rPr lang="en-US" sz="1500" dirty="0"/>
              <a:t>, which represents our projected annual net profit.</a:t>
            </a:r>
            <a:endParaRPr lang="en-US" sz="1500" dirty="0"/>
          </a:p>
          <a:p>
            <a:r>
              <a:rPr lang="en-US" sz="1500" dirty="0"/>
              <a:t>But more importantly, we’re excited about what that number represents.</a:t>
            </a:r>
            <a:endParaRPr lang="en-US" sz="1500" dirty="0"/>
          </a:p>
          <a:p>
            <a:r>
              <a:rPr lang="en-US" sz="1500" dirty="0"/>
              <a:t>Your goal isn’t just to raise money — it’s to raise as much as possible </a:t>
            </a:r>
            <a:r>
              <a:rPr lang="en-US" sz="1500" i="1" dirty="0"/>
              <a:t>while involving as many neighbors as possible</a:t>
            </a:r>
            <a:r>
              <a:rPr lang="en-US" sz="1500" dirty="0"/>
              <a:t>. That’s what motivates us most. This isn’t about a single donation. It’s about mobilizing the entire neighborhood.</a:t>
            </a:r>
            <a:endParaRPr lang="en-US" sz="1500" dirty="0"/>
          </a:p>
          <a:p>
            <a:r>
              <a:rPr lang="en-US" sz="1500" dirty="0"/>
              <a:t>My plan is simple:</a:t>
            </a:r>
            <a:br>
              <a:rPr lang="en-US" sz="1500" dirty="0"/>
            </a:br>
            <a:r>
              <a:rPr lang="en-US" sz="1500" dirty="0"/>
              <a:t>Personally engage households rather than relying only on messages or flyers</a:t>
            </a:r>
            <a:br>
              <a:rPr lang="en-US" sz="1500" dirty="0"/>
            </a:br>
            <a:r>
              <a:rPr lang="en-US" sz="1500" dirty="0"/>
              <a:t>Encourage small but meaningful contributions so more neighbors can participate</a:t>
            </a:r>
            <a:br>
              <a:rPr lang="en-US" sz="1500" dirty="0"/>
            </a:br>
            <a:r>
              <a:rPr lang="en-US" sz="1500" dirty="0"/>
              <a:t>Create friendly momentum by sharing progress updates to keep everyone energized</a:t>
            </a:r>
            <a:br>
              <a:rPr lang="en-US" sz="1500" dirty="0"/>
            </a:br>
            <a:r>
              <a:rPr lang="en-US" sz="1500" dirty="0"/>
              <a:t>Make participation feel collective — not transactional</a:t>
            </a:r>
            <a:endParaRPr lang="en-US" sz="1500" dirty="0"/>
          </a:p>
          <a:p>
            <a:r>
              <a:rPr lang="en-US" sz="1500" dirty="0"/>
              <a:t>If we raise $2,735.22, your matching gift would immediately double that impact to </a:t>
            </a:r>
            <a:r>
              <a:rPr lang="en-US" sz="1500" b="1" dirty="0"/>
              <a:t>$5,470.44</a:t>
            </a:r>
            <a:r>
              <a:rPr lang="en-US" sz="1500" dirty="0"/>
              <a:t> for Relief Aid. And if we involve dozens of neighbors in reaching that number, the true impact becomes even bigger than the dollars alone — it builds community ownership around generosity.</a:t>
            </a:r>
            <a:endParaRPr lang="en-US" sz="1500" dirty="0"/>
          </a:p>
          <a:p>
            <a:r>
              <a:rPr lang="en-US" sz="1500" dirty="0"/>
              <a:t>We’re genuinely enthusiastic about this challenge. We don’t just want to reach the target — we want to rally the neighborhood around it.</a:t>
            </a:r>
            <a:endParaRPr lang="en-US" sz="1500" dirty="0"/>
          </a:p>
          <a:p>
            <a:r>
              <a:rPr lang="en-US" sz="1500" dirty="0"/>
              <a:t>Thank you for creating an opportunity that turns fundraising into community building. We’re ready to get started.</a:t>
            </a:r>
            <a:endParaRPr lang="en-US" sz="1500" dirty="0"/>
          </a:p>
          <a:p>
            <a:r>
              <a:rPr lang="en-US" sz="1500" dirty="0"/>
              <a:t>— Team Swift</a:t>
            </a:r>
            <a:endParaRPr lang="en-US" sz="1500" dirty="0"/>
          </a:p>
          <a:p>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34297" y="243093"/>
            <a:ext cx="10058400" cy="538162"/>
          </a:xfrm>
        </p:spPr>
        <p:txBody>
          <a:bodyPr>
            <a:normAutofit fontScale="90000"/>
          </a:bodyPr>
          <a:lstStyle/>
          <a:p>
            <a:r>
              <a:rPr lang="en-US" dirty="0"/>
              <a:t>DATA</a:t>
            </a:r>
            <a:endParaRPr lang="en-US" dirty="0"/>
          </a:p>
        </p:txBody>
      </p:sp>
      <p:sp>
        <p:nvSpPr>
          <p:cNvPr id="3" name="Content Placeholder 2"/>
          <p:cNvSpPr>
            <a:spLocks noGrp="1"/>
          </p:cNvSpPr>
          <p:nvPr>
            <p:ph idx="4294967295"/>
          </p:nvPr>
        </p:nvSpPr>
        <p:spPr>
          <a:xfrm>
            <a:off x="88491" y="707513"/>
            <a:ext cx="3746091" cy="5443384"/>
          </a:xfrm>
        </p:spPr>
        <p:txBody>
          <a:bodyPr>
            <a:noAutofit/>
          </a:bodyPr>
          <a:lstStyle/>
          <a:p>
            <a:r>
              <a:rPr lang="en-US" sz="1500" b="1" dirty="0"/>
              <a:t>Annual Fixed Costs – $5,053.68</a:t>
            </a:r>
            <a:endParaRPr lang="en-US" sz="1500" b="1" dirty="0"/>
          </a:p>
          <a:p>
            <a:r>
              <a:rPr lang="en-US" sz="1500" dirty="0"/>
              <a:t>Costs that remain constant regardless of sales</a:t>
            </a:r>
            <a:br>
              <a:rPr lang="en-US" sz="1500" dirty="0"/>
            </a:br>
            <a:r>
              <a:rPr lang="en-US" sz="1500" dirty="0"/>
              <a:t>Includes rent, utilities, and overhead</a:t>
            </a:r>
            <a:br>
              <a:rPr lang="en-US" sz="1500" dirty="0"/>
            </a:br>
            <a:r>
              <a:rPr lang="en-US" sz="1500" dirty="0"/>
              <a:t>Must be covered before profit begins</a:t>
            </a:r>
            <a:endParaRPr lang="en-US" sz="1500" dirty="0"/>
          </a:p>
          <a:p>
            <a:r>
              <a:rPr lang="en-US" sz="1500" b="1" dirty="0"/>
              <a:t>Variable Cost per Cup – $0.30</a:t>
            </a:r>
            <a:endParaRPr lang="en-US" sz="1500" b="1" dirty="0"/>
          </a:p>
          <a:p>
            <a:r>
              <a:rPr lang="en-US" sz="1500" dirty="0"/>
              <a:t>Cost that increases with each cup sold</a:t>
            </a:r>
            <a:br>
              <a:rPr lang="en-US" sz="1500" dirty="0"/>
            </a:br>
            <a:r>
              <a:rPr lang="en-US" sz="1500" dirty="0"/>
              <a:t>Includes ingredients and packaging</a:t>
            </a:r>
            <a:br>
              <a:rPr lang="en-US" sz="1500" dirty="0"/>
            </a:br>
            <a:r>
              <a:rPr lang="en-US" sz="1500" dirty="0"/>
              <a:t>Directly impacts profit per unit</a:t>
            </a:r>
            <a:endParaRPr lang="en-US" sz="1500" dirty="0"/>
          </a:p>
          <a:p>
            <a:r>
              <a:rPr lang="en-US" sz="1500" b="1" dirty="0"/>
              <a:t>Price &amp; Percent of Demand – $0.80 per Cup</a:t>
            </a:r>
            <a:endParaRPr lang="en-US" sz="1500" b="1" dirty="0"/>
          </a:p>
          <a:p>
            <a:r>
              <a:rPr lang="en-US" sz="1500" dirty="0"/>
              <a:t>Revenue earned per cup sold</a:t>
            </a:r>
            <a:br>
              <a:rPr lang="en-US" sz="1500" dirty="0"/>
            </a:br>
            <a:r>
              <a:rPr lang="en-US" sz="1500" dirty="0"/>
              <a:t>Balanced to maintain strong demand</a:t>
            </a:r>
            <a:br>
              <a:rPr lang="en-US" sz="1500" dirty="0"/>
            </a:br>
            <a:r>
              <a:rPr lang="en-US" sz="1500" dirty="0"/>
              <a:t>Contribution margin: </a:t>
            </a:r>
            <a:r>
              <a:rPr lang="en-US" sz="1500" b="1" dirty="0"/>
              <a:t>$0.50 per cup</a:t>
            </a:r>
            <a:endParaRPr lang="en-US" sz="1500" b="1" dirty="0"/>
          </a:p>
          <a:p>
            <a:r>
              <a:rPr lang="en-US" sz="1500" b="1" dirty="0"/>
              <a:t>Break-Even Point – 10,107 Cups</a:t>
            </a:r>
            <a:endParaRPr lang="en-US" sz="1500" b="1" dirty="0"/>
          </a:p>
          <a:p>
            <a:r>
              <a:rPr lang="en-US" sz="1500" dirty="0"/>
              <a:t>Sales level where revenue equals total cost</a:t>
            </a:r>
            <a:br>
              <a:rPr lang="en-US" sz="1500" dirty="0"/>
            </a:br>
            <a:r>
              <a:rPr lang="en-US" sz="1500" dirty="0"/>
              <a:t>No profit, no loss at this point</a:t>
            </a:r>
            <a:br>
              <a:rPr lang="en-US" sz="1500" dirty="0"/>
            </a:br>
            <a:r>
              <a:rPr lang="en-US" sz="1500" dirty="0"/>
              <a:t>Sales above this generate profit</a:t>
            </a:r>
            <a:endParaRPr lang="en-US" sz="1500" dirty="0"/>
          </a:p>
          <a:p>
            <a:endParaRPr lang="en-US" sz="1500" dirty="0"/>
          </a:p>
        </p:txBody>
      </p:sp>
      <p:sp>
        <p:nvSpPr>
          <p:cNvPr id="4" name="Content Placeholder 2"/>
          <p:cNvSpPr txBox="1"/>
          <p:nvPr/>
        </p:nvSpPr>
        <p:spPr>
          <a:xfrm>
            <a:off x="4080388" y="705719"/>
            <a:ext cx="3215147" cy="1254945"/>
          </a:xfrm>
          <a:prstGeom prst="rect">
            <a:avLst/>
          </a:prstGeom>
        </p:spPr>
        <p:txBody>
          <a:bodyPr vert="horz" lIns="0" tIns="45720" rIns="0" bIns="45720" rtlCol="0">
            <a:noAutofit/>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100000"/>
              </a:lnSpc>
              <a:spcBef>
                <a:spcPts val="200"/>
              </a:spcBef>
              <a:spcAft>
                <a:spcPts val="400"/>
              </a:spcAft>
              <a:buClrTx/>
              <a:buFont typeface="Calibri" panose="020F0502020204030204" pitchFamily="34" charset="0"/>
              <a:buChar char="◦"/>
              <a:defRPr sz="17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100000"/>
              </a:lnSpc>
              <a:spcBef>
                <a:spcPts val="200"/>
              </a:spcBef>
              <a:spcAft>
                <a:spcPts val="400"/>
              </a:spcAft>
              <a:buClrTx/>
              <a:buFont typeface="Calibri" panose="020F0502020204030204" pitchFamily="34" charset="0"/>
              <a:buChar char="◦"/>
              <a:defRPr sz="13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100000"/>
              </a:lnSpc>
              <a:spcBef>
                <a:spcPts val="200"/>
              </a:spcBef>
              <a:spcAft>
                <a:spcPts val="400"/>
              </a:spcAft>
              <a:buClrTx/>
              <a:buFont typeface="Calibri" panose="020F0502020204030204" pitchFamily="34" charset="0"/>
              <a:buChar char="◦"/>
              <a:defRPr sz="13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100000"/>
              </a:lnSpc>
              <a:spcBef>
                <a:spcPts val="200"/>
              </a:spcBef>
              <a:spcAft>
                <a:spcPts val="400"/>
              </a:spcAft>
              <a:buClrTx/>
              <a:buFont typeface="Calibri" panose="020F0502020204030204" pitchFamily="34" charset="0"/>
              <a:buChar char="◦"/>
              <a:defRPr sz="13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r>
              <a:rPr lang="en-US" sz="1500" b="1" dirty="0"/>
              <a:t>Annual Net Profit – $2,735.22</a:t>
            </a:r>
            <a:endParaRPr lang="en-US" sz="1500" b="1" dirty="0"/>
          </a:p>
          <a:p>
            <a:r>
              <a:rPr lang="en-US" sz="1500" dirty="0"/>
              <a:t>Profit after covering all costs</a:t>
            </a:r>
            <a:br>
              <a:rPr lang="en-US" sz="1500" dirty="0"/>
            </a:br>
            <a:r>
              <a:rPr lang="en-US" sz="1500" dirty="0"/>
              <a:t>Achieved by selling 15,577 cups</a:t>
            </a:r>
            <a:br>
              <a:rPr lang="en-US" sz="1500" dirty="0"/>
            </a:br>
            <a:r>
              <a:rPr lang="en-US" sz="1500" dirty="0"/>
              <a:t>Indicates strong financial performance</a:t>
            </a:r>
            <a:endParaRPr lang="en-US" sz="1500" dirty="0"/>
          </a:p>
        </p:txBody>
      </p:sp>
      <p:sp>
        <p:nvSpPr>
          <p:cNvPr id="7" name="Content Placeholder 2"/>
          <p:cNvSpPr txBox="1"/>
          <p:nvPr/>
        </p:nvSpPr>
        <p:spPr>
          <a:xfrm>
            <a:off x="4636660" y="4395019"/>
            <a:ext cx="7348863" cy="1932038"/>
          </a:xfrm>
          <a:prstGeom prst="rect">
            <a:avLst/>
          </a:prstGeom>
        </p:spPr>
        <p:txBody>
          <a:bodyPr vert="horz" lIns="0" tIns="45720" rIns="0" bIns="45720" rtlCol="0">
            <a:noAutofit/>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100000"/>
              </a:lnSpc>
              <a:spcBef>
                <a:spcPts val="200"/>
              </a:spcBef>
              <a:spcAft>
                <a:spcPts val="400"/>
              </a:spcAft>
              <a:buClrTx/>
              <a:buFont typeface="Calibri" panose="020F0502020204030204" pitchFamily="34" charset="0"/>
              <a:buChar char="◦"/>
              <a:defRPr sz="17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100000"/>
              </a:lnSpc>
              <a:spcBef>
                <a:spcPts val="200"/>
              </a:spcBef>
              <a:spcAft>
                <a:spcPts val="400"/>
              </a:spcAft>
              <a:buClrTx/>
              <a:buFont typeface="Calibri" panose="020F0502020204030204" pitchFamily="34" charset="0"/>
              <a:buChar char="◦"/>
              <a:defRPr sz="13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100000"/>
              </a:lnSpc>
              <a:spcBef>
                <a:spcPts val="200"/>
              </a:spcBef>
              <a:spcAft>
                <a:spcPts val="400"/>
              </a:spcAft>
              <a:buClrTx/>
              <a:buFont typeface="Calibri" panose="020F0502020204030204" pitchFamily="34" charset="0"/>
              <a:buChar char="◦"/>
              <a:defRPr sz="13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100000"/>
              </a:lnSpc>
              <a:spcBef>
                <a:spcPts val="200"/>
              </a:spcBef>
              <a:spcAft>
                <a:spcPts val="400"/>
              </a:spcAft>
              <a:buClrTx/>
              <a:buFont typeface="Calibri" panose="020F0502020204030204" pitchFamily="34" charset="0"/>
              <a:buChar char="◦"/>
              <a:defRPr sz="13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r>
              <a:rPr lang="en-US" sz="1300" b="1" dirty="0"/>
              <a:t>Revenue Line</a:t>
            </a:r>
            <a:r>
              <a:rPr lang="en-US" sz="1300" dirty="0"/>
              <a:t> – This upward-sloping line shows how total revenue increases as more cups are sold. It is calculated as </a:t>
            </a:r>
            <a:r>
              <a:rPr lang="en-US" sz="1300" i="1" dirty="0"/>
              <a:t>price × quantity</a:t>
            </a:r>
            <a:r>
              <a:rPr lang="en-US" sz="1300" dirty="0"/>
              <a:t>. Since the price is $0.80 per cup, revenue increases steadily with each additional sale.</a:t>
            </a:r>
            <a:endParaRPr lang="en-US" sz="1300" dirty="0"/>
          </a:p>
          <a:p>
            <a:r>
              <a:rPr lang="en-US" sz="1300" b="1" dirty="0"/>
              <a:t>Total Cost Line</a:t>
            </a:r>
            <a:r>
              <a:rPr lang="en-US" sz="1300" dirty="0"/>
              <a:t> – This line starts above zero at the annual fixed cost of $5,053.68 and increases as more cups are sold. It reflects both fixed costs and variable costs ($0.30 per cup).</a:t>
            </a:r>
            <a:endParaRPr lang="en-US" sz="1300" dirty="0"/>
          </a:p>
          <a:p>
            <a:r>
              <a:rPr lang="en-US" sz="1300" b="1" dirty="0"/>
              <a:t>Break-Even Point (Intersection)</a:t>
            </a:r>
            <a:r>
              <a:rPr lang="en-US" sz="1300" dirty="0"/>
              <a:t> – The point where the revenue and total cost lines cross represents 10,107 cups. At this level, total revenue equals total cost. To the left is a loss; to the right is profit.</a:t>
            </a:r>
            <a:endParaRPr lang="en-US" sz="1300" dirty="0"/>
          </a:p>
        </p:txBody>
      </p:sp>
      <p:pic>
        <p:nvPicPr>
          <p:cNvPr id="9" name="Picture 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916574" y="1464960"/>
            <a:ext cx="4068949" cy="287382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Persuasion</a:t>
            </a:r>
            <a:endParaRPr lang="en-US" dirty="0"/>
          </a:p>
        </p:txBody>
      </p:sp>
      <p:sp>
        <p:nvSpPr>
          <p:cNvPr id="3" name="Content Placeholder 2"/>
          <p:cNvSpPr>
            <a:spLocks noGrp="1"/>
          </p:cNvSpPr>
          <p:nvPr>
            <p:ph idx="1"/>
          </p:nvPr>
        </p:nvSpPr>
        <p:spPr/>
        <p:txBody>
          <a:bodyPr>
            <a:normAutofit fontScale="85000" lnSpcReduction="20000"/>
          </a:bodyPr>
          <a:lstStyle/>
          <a:p>
            <a:r>
              <a:rPr lang="en-US" dirty="0"/>
              <a:t>Ana,</a:t>
            </a:r>
            <a:endParaRPr lang="en-US" dirty="0"/>
          </a:p>
          <a:p>
            <a:r>
              <a:rPr lang="en-US" dirty="0"/>
              <a:t>We were reviewing our projected annual net profit, and it’s sitting at </a:t>
            </a:r>
            <a:r>
              <a:rPr lang="en-US" b="1" dirty="0"/>
              <a:t>$2,735.22</a:t>
            </a:r>
            <a:r>
              <a:rPr lang="en-US" dirty="0"/>
              <a:t> for the year. That’s not just a random number — it represents disciplined planning, consistent performance, and staying above my break-even point all year.</a:t>
            </a:r>
            <a:endParaRPr lang="en-US" dirty="0"/>
          </a:p>
          <a:p>
            <a:r>
              <a:rPr lang="en-US" dirty="0"/>
              <a:t>What excites us most is that this profit didn’t happen by accident. It came from structured goals, steady growth, and pushing past the minimum requirement. If we can clear that margin, we honestly believe you can match it — or even exceed it.</a:t>
            </a:r>
            <a:endParaRPr lang="en-US" dirty="0"/>
          </a:p>
          <a:p>
            <a:r>
              <a:rPr lang="en-US" dirty="0"/>
              <a:t>Think about it this way: matching $2,735.22 over a year breaks down to about $228 per month. When you look at it monthly, it feels much more achievable. With focused effort, small strategic adjustments, and consistency, that target is very realistic.</a:t>
            </a:r>
            <a:endParaRPr lang="en-US" dirty="0"/>
          </a:p>
          <a:p>
            <a:r>
              <a:rPr lang="en-US" dirty="0"/>
              <a:t>Let’s make it a challenge — we’ve set the benchmark. Now match it.</a:t>
            </a:r>
            <a:endParaRPr lang="en-US" dirty="0"/>
          </a:p>
          <a:p>
            <a:r>
              <a:rPr lang="en-US" dirty="0"/>
              <a:t>We know you can.</a:t>
            </a:r>
            <a:endParaRPr lang="en-US" dirty="0"/>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Conclusion</a:t>
            </a:r>
            <a:endParaRPr lang="en-US" dirty="0"/>
          </a:p>
        </p:txBody>
      </p:sp>
      <p:sp>
        <p:nvSpPr>
          <p:cNvPr id="3" name="Content Placeholder 2"/>
          <p:cNvSpPr>
            <a:spLocks noGrp="1"/>
          </p:cNvSpPr>
          <p:nvPr>
            <p:ph idx="1"/>
          </p:nvPr>
        </p:nvSpPr>
        <p:spPr/>
        <p:txBody>
          <a:bodyPr>
            <a:normAutofit lnSpcReduction="10000"/>
          </a:bodyPr>
          <a:lstStyle/>
          <a:p>
            <a:r>
              <a:rPr lang="en-US" dirty="0"/>
              <a:t>In closing, this drink business model shows that with clear cost control, strategic pricing, and strong community demand, we can not only operate above our break-even point but generate meaningful net profit. That projected annual net profit of </a:t>
            </a:r>
            <a:r>
              <a:rPr lang="en-US" b="1" dirty="0"/>
              <a:t>$2,735.22</a:t>
            </a:r>
            <a:r>
              <a:rPr lang="en-US" dirty="0"/>
              <a:t> is more than just a number — it represents disciplined planning, consistent performance, and the ability to mobilize support effectively.</a:t>
            </a:r>
            <a:endParaRPr lang="en-US" dirty="0"/>
          </a:p>
          <a:p>
            <a:r>
              <a:rPr lang="en-US" dirty="0"/>
              <a:t>By applying that same focus and enthusiasm to our Relief Aid fundraising effort, I am confident we can reach — and potentially exceed — that target. With your matching contribution, we could double the impact and significantly increase the support delivered to those in need.</a:t>
            </a:r>
            <a:endParaRPr lang="en-US" dirty="0"/>
          </a:p>
          <a:p>
            <a:r>
              <a:rPr lang="en-US" dirty="0"/>
              <a:t>Thank you sincerely for your time, your leadership, and your commitment to raising as much as possible for Relief Aid. We truly appreciate the opportunity to present and to be part of this meaningful initiative.</a:t>
            </a:r>
            <a:endParaRPr lang="en-US" dirty="0"/>
          </a:p>
        </p:txBody>
      </p:sp>
    </p:spTree>
  </p:cSld>
  <p:clrMapOvr>
    <a:masterClrMapping/>
  </p:clrMapOvr>
</p:sld>
</file>

<file path=ppt/theme/theme1.xml><?xml version="1.0" encoding="utf-8"?>
<a:theme xmlns:a="http://schemas.openxmlformats.org/drawingml/2006/main" name="Custom">
  <a:themeElements>
    <a:clrScheme name="Custom 37">
      <a:dk1>
        <a:srgbClr val="000000"/>
      </a:dk1>
      <a:lt1>
        <a:srgbClr val="FFFFFF"/>
      </a:lt1>
      <a:dk2>
        <a:srgbClr val="4A5356"/>
      </a:dk2>
      <a:lt2>
        <a:srgbClr val="E8E3CE"/>
      </a:lt2>
      <a:accent1>
        <a:srgbClr val="9BA8B7"/>
      </a:accent1>
      <a:accent2>
        <a:srgbClr val="E6A02E"/>
      </a:accent2>
      <a:accent3>
        <a:srgbClr val="BF6A3B"/>
      </a:accent3>
      <a:accent4>
        <a:srgbClr val="92987A"/>
      </a:accent4>
      <a:accent5>
        <a:srgbClr val="857659"/>
      </a:accent5>
      <a:accent6>
        <a:srgbClr val="A0988C"/>
      </a:accent6>
      <a:hlink>
        <a:srgbClr val="00B0F0"/>
      </a:hlink>
      <a:folHlink>
        <a:srgbClr val="738F97"/>
      </a:folHlink>
    </a:clrScheme>
    <a:fontScheme name="Retrospect">
      <a:majorFont>
        <a:latin typeface="Bookman Old Style"/>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F4F4D41-822D-40F2-A7AC-E4E6CB36CA7A}">
  <ds:schemaRefs/>
</ds:datastoreItem>
</file>

<file path=customXml/itemProps2.xml><?xml version="1.0" encoding="utf-8"?>
<ds:datastoreItem xmlns:ds="http://schemas.openxmlformats.org/officeDocument/2006/customXml" ds:itemID="{19DAD249-BF80-48EF-9AFB-36A11BCDC2CE}">
  <ds:schemaRefs/>
</ds:datastoreItem>
</file>

<file path=customXml/itemProps3.xml><?xml version="1.0" encoding="utf-8"?>
<ds:datastoreItem xmlns:ds="http://schemas.openxmlformats.org/officeDocument/2006/customXml" ds:itemID="{C5A59D56-2157-4202-9D02-F44E447A241D}">
  <ds:schemaRefs/>
</ds:datastoreItem>
</file>

<file path=docProps/app.xml><?xml version="1.0" encoding="utf-8"?>
<Properties xmlns="http://schemas.openxmlformats.org/officeDocument/2006/extended-properties" xmlns:vt="http://schemas.openxmlformats.org/officeDocument/2006/docPropsVTypes">
  <Template>{59B74C22-AAE4-42BC-B4D2-4956CD7344B9}TFf0a5ceae-4542-492d-822e-d65a94fb0e1e3b562c5a_win32-009a0557e699</Template>
  <TotalTime>0</TotalTime>
  <Words>4475</Words>
  <Application>WPS Presentation</Application>
  <PresentationFormat>Widescreen</PresentationFormat>
  <Paragraphs>52</Paragraphs>
  <Slides>5</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5</vt:i4>
      </vt:variant>
    </vt:vector>
  </HeadingPairs>
  <TitlesOfParts>
    <vt:vector size="14" baseType="lpstr">
      <vt:lpstr>Arial</vt:lpstr>
      <vt:lpstr>SimSun</vt:lpstr>
      <vt:lpstr>Wingdings</vt:lpstr>
      <vt:lpstr>Calibri</vt:lpstr>
      <vt:lpstr>Franklin Gothic Book</vt:lpstr>
      <vt:lpstr>Bookman Old Style</vt:lpstr>
      <vt:lpstr>Microsoft YaHei</vt:lpstr>
      <vt:lpstr>Arial Unicode MS</vt:lpstr>
      <vt:lpstr>Custom</vt:lpstr>
      <vt:lpstr>Break-even Analysis for  Swift Drink</vt:lpstr>
      <vt:lpstr>OBJECTIVE</vt:lpstr>
      <vt:lpstr>DATA</vt:lpstr>
      <vt:lpstr>Persuasion</vt:lpstr>
      <vt:lpstr> Conclusion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Ardon D.Richards</dc:creator>
  <cp:lastModifiedBy>leriennys pereira hidrogo (Nen</cp:lastModifiedBy>
  <cp:revision>13</cp:revision>
  <dcterms:created xsi:type="dcterms:W3CDTF">2026-02-14T22:27:00Z</dcterms:created>
  <dcterms:modified xsi:type="dcterms:W3CDTF">2026-02-14T23:55:08Z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2891F9D9FF0244CCA0EEAC0C4C165B75_13</vt:lpwstr>
  </property>
  <property fmtid="{D5CDD505-2E9C-101B-9397-08002B2CF9AE}" pid="4" name="KSOProductBuildVer">
    <vt:lpwstr>3082-12.2.0.23196</vt:lpwstr>
  </property>
</Properties>
</file>