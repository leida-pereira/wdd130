
<file path=[Content_Types].xml><?xml version="1.0" encoding="utf-8"?>
<Types xmlns="http://schemas.openxmlformats.org/package/2006/content-types">
  <Default Extension="jpeg" ContentType="image/jpeg"/>
  <Default Extension="JPG" ContentType="image/.jpg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1" r:id="rId3"/>
    <p:sldId id="271" r:id="rId4"/>
    <p:sldId id="272" r:id="rId5"/>
  </p:sldIdLst>
  <p:sldSz cx="9144000" cy="6858000" type="screen4x3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194" y="-12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Subtítulo"/>
          <p:cNvSpPr>
            <a:spLocks noGrp="1"/>
          </p:cNvSpPr>
          <p:nvPr>
            <p:ph type="subTitle" idx="1" hasCustomPrompt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88F55-9230-4676-B0ED-2D05FD8BFF9B}" type="datetimeFigureOut">
              <a:rPr lang="es-VE" smtClean="0"/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D39AB-D4E0-4CB1-80FB-4ABE7717C51A}" type="slidenum">
              <a:rPr lang="es-VE" smtClean="0"/>
            </a:fld>
            <a:endParaRPr lang="es-V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  <a:endParaRPr lang="es-ES" smtClean="0"/>
          </a:p>
          <a:p>
            <a:pPr lvl="1"/>
            <a:r>
              <a:rPr lang="es-ES" smtClean="0"/>
              <a:t>Segundo nivel</a:t>
            </a:r>
            <a:endParaRPr lang="es-ES" smtClean="0"/>
          </a:p>
          <a:p>
            <a:pPr lvl="2"/>
            <a:r>
              <a:rPr lang="es-ES" smtClean="0"/>
              <a:t>Tercer nivel</a:t>
            </a:r>
            <a:endParaRPr lang="es-ES" smtClean="0"/>
          </a:p>
          <a:p>
            <a:pPr lvl="3"/>
            <a:r>
              <a:rPr lang="es-ES" smtClean="0"/>
              <a:t>Cuarto nivel</a:t>
            </a:r>
            <a:endParaRPr lang="es-ES" smtClean="0"/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88F55-9230-4676-B0ED-2D05FD8BFF9B}" type="datetimeFigureOut">
              <a:rPr lang="es-VE" smtClean="0"/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D39AB-D4E0-4CB1-80FB-4ABE7717C51A}" type="slidenum">
              <a:rPr lang="es-VE" smtClean="0"/>
            </a:fld>
            <a:endParaRPr lang="es-V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"/>
          <p:cNvSpPr>
            <a:spLocks noGrp="1"/>
          </p:cNvSpPr>
          <p:nvPr>
            <p:ph type="body" idx="1" hasCustomPrompt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  <a:endParaRPr lang="es-ES" smtClean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88F55-9230-4676-B0ED-2D05FD8BFF9B}" type="datetimeFigureOut">
              <a:rPr lang="es-VE" smtClean="0"/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D39AB-D4E0-4CB1-80FB-4ABE7717C51A}" type="slidenum">
              <a:rPr lang="es-VE" smtClean="0"/>
            </a:fld>
            <a:endParaRPr lang="es-V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  <a:endParaRPr lang="es-ES" smtClean="0"/>
          </a:p>
          <a:p>
            <a:pPr lvl="1"/>
            <a:r>
              <a:rPr lang="es-ES" smtClean="0"/>
              <a:t>Segundo nivel</a:t>
            </a:r>
            <a:endParaRPr lang="es-ES" smtClean="0"/>
          </a:p>
          <a:p>
            <a:pPr lvl="2"/>
            <a:r>
              <a:rPr lang="es-ES" smtClean="0"/>
              <a:t>Tercer nivel</a:t>
            </a:r>
            <a:endParaRPr lang="es-ES" smtClean="0"/>
          </a:p>
          <a:p>
            <a:pPr lvl="3"/>
            <a:r>
              <a:rPr lang="es-ES" smtClean="0"/>
              <a:t>Cuarto nivel</a:t>
            </a:r>
            <a:endParaRPr lang="es-ES" smtClean="0"/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 hasCustomPrompt="1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  <a:endParaRPr lang="es-ES" smtClean="0"/>
          </a:p>
          <a:p>
            <a:pPr lvl="1"/>
            <a:r>
              <a:rPr lang="es-ES" smtClean="0"/>
              <a:t>Segundo nivel</a:t>
            </a:r>
            <a:endParaRPr lang="es-ES" smtClean="0"/>
          </a:p>
          <a:p>
            <a:pPr lvl="2"/>
            <a:r>
              <a:rPr lang="es-ES" smtClean="0"/>
              <a:t>Tercer nivel</a:t>
            </a:r>
            <a:endParaRPr lang="es-ES" smtClean="0"/>
          </a:p>
          <a:p>
            <a:pPr lvl="3"/>
            <a:r>
              <a:rPr lang="es-ES" smtClean="0"/>
              <a:t>Cuarto nivel</a:t>
            </a:r>
            <a:endParaRPr lang="es-ES" smtClean="0"/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88F55-9230-4676-B0ED-2D05FD8BFF9B}" type="datetimeFigureOut">
              <a:rPr lang="es-VE" smtClean="0"/>
            </a:fld>
            <a:endParaRPr lang="es-V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D39AB-D4E0-4CB1-80FB-4ABE7717C51A}" type="slidenum">
              <a:rPr lang="es-VE" smtClean="0"/>
            </a:fld>
            <a:endParaRPr lang="es-V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  <a:endParaRPr lang="es-ES" smtClean="0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  <a:endParaRPr lang="es-ES" smtClean="0"/>
          </a:p>
          <a:p>
            <a:pPr lvl="1"/>
            <a:r>
              <a:rPr lang="es-ES" smtClean="0"/>
              <a:t>Segundo nivel</a:t>
            </a:r>
            <a:endParaRPr lang="es-ES" smtClean="0"/>
          </a:p>
          <a:p>
            <a:pPr lvl="2"/>
            <a:r>
              <a:rPr lang="es-ES" smtClean="0"/>
              <a:t>Tercer nivel</a:t>
            </a:r>
            <a:endParaRPr lang="es-ES" smtClean="0"/>
          </a:p>
          <a:p>
            <a:pPr lvl="3"/>
            <a:r>
              <a:rPr lang="es-ES" smtClean="0"/>
              <a:t>Cuarto nivel</a:t>
            </a:r>
            <a:endParaRPr lang="es-ES" smtClean="0"/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  <a:endParaRPr lang="es-ES" smtClean="0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 hasCustomPrompt="1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  <a:endParaRPr lang="es-ES" smtClean="0"/>
          </a:p>
          <a:p>
            <a:pPr lvl="1"/>
            <a:r>
              <a:rPr lang="es-ES" smtClean="0"/>
              <a:t>Segundo nivel</a:t>
            </a:r>
            <a:endParaRPr lang="es-ES" smtClean="0"/>
          </a:p>
          <a:p>
            <a:pPr lvl="2"/>
            <a:r>
              <a:rPr lang="es-ES" smtClean="0"/>
              <a:t>Tercer nivel</a:t>
            </a:r>
            <a:endParaRPr lang="es-ES" smtClean="0"/>
          </a:p>
          <a:p>
            <a:pPr lvl="3"/>
            <a:r>
              <a:rPr lang="es-ES" smtClean="0"/>
              <a:t>Cuarto nivel</a:t>
            </a:r>
            <a:endParaRPr lang="es-ES" smtClean="0"/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88F55-9230-4676-B0ED-2D05FD8BFF9B}" type="datetimeFigureOut">
              <a:rPr lang="es-VE" smtClean="0"/>
            </a:fld>
            <a:endParaRPr lang="es-VE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D39AB-D4E0-4CB1-80FB-4ABE7717C51A}" type="slidenum">
              <a:rPr lang="es-VE" smtClean="0"/>
            </a:fld>
            <a:endParaRPr lang="es-V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88F55-9230-4676-B0ED-2D05FD8BFF9B}" type="datetimeFigureOut">
              <a:rPr lang="es-VE" smtClean="0"/>
            </a:fld>
            <a:endParaRPr lang="es-VE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D39AB-D4E0-4CB1-80FB-4ABE7717C51A}" type="slidenum">
              <a:rPr lang="es-VE" smtClean="0"/>
            </a:fld>
            <a:endParaRPr lang="es-V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88F55-9230-4676-B0ED-2D05FD8BFF9B}" type="datetimeFigureOut">
              <a:rPr lang="es-VE" smtClean="0"/>
            </a:fld>
            <a:endParaRPr lang="es-VE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D39AB-D4E0-4CB1-80FB-4ABE7717C51A}" type="slidenum">
              <a:rPr lang="es-VE" smtClean="0"/>
            </a:fld>
            <a:endParaRPr lang="es-V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idx="1" hasCustomPrompt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  <a:endParaRPr lang="es-ES" smtClean="0"/>
          </a:p>
          <a:p>
            <a:pPr lvl="1"/>
            <a:r>
              <a:rPr lang="es-ES" smtClean="0"/>
              <a:t>Segundo nivel</a:t>
            </a:r>
            <a:endParaRPr lang="es-ES" smtClean="0"/>
          </a:p>
          <a:p>
            <a:pPr lvl="2"/>
            <a:r>
              <a:rPr lang="es-ES" smtClean="0"/>
              <a:t>Tercer nivel</a:t>
            </a:r>
            <a:endParaRPr lang="es-ES" smtClean="0"/>
          </a:p>
          <a:p>
            <a:pPr lvl="3"/>
            <a:r>
              <a:rPr lang="es-ES" smtClean="0"/>
              <a:t>Cuarto nivel</a:t>
            </a:r>
            <a:endParaRPr lang="es-ES" smtClean="0"/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 hasCustomPrompt="1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  <a:endParaRPr lang="es-ES" smtClean="0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88F55-9230-4676-B0ED-2D05FD8BFF9B}" type="datetimeFigureOut">
              <a:rPr lang="es-VE" smtClean="0"/>
            </a:fld>
            <a:endParaRPr lang="es-V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D39AB-D4E0-4CB1-80FB-4ABE7717C51A}" type="slidenum">
              <a:rPr lang="es-VE" smtClean="0"/>
            </a:fld>
            <a:endParaRPr lang="es-V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VE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 hasCustomPrompt="1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  <a:endParaRPr lang="es-ES" smtClean="0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88F55-9230-4676-B0ED-2D05FD8BFF9B}" type="datetimeFigureOut">
              <a:rPr lang="es-VE" smtClean="0"/>
            </a:fld>
            <a:endParaRPr lang="es-V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D39AB-D4E0-4CB1-80FB-4ABE7717C51A}" type="slidenum">
              <a:rPr lang="es-VE" smtClean="0"/>
            </a:fld>
            <a:endParaRPr lang="es-V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  <a:endParaRPr lang="es-ES" smtClean="0"/>
          </a:p>
          <a:p>
            <a:pPr lvl="1"/>
            <a:r>
              <a:rPr lang="es-ES" smtClean="0"/>
              <a:t>Segundo nivel</a:t>
            </a:r>
            <a:endParaRPr lang="es-ES" smtClean="0"/>
          </a:p>
          <a:p>
            <a:pPr lvl="2"/>
            <a:r>
              <a:rPr lang="es-ES" smtClean="0"/>
              <a:t>Tercer nivel</a:t>
            </a:r>
            <a:endParaRPr lang="es-ES" smtClean="0"/>
          </a:p>
          <a:p>
            <a:pPr lvl="3"/>
            <a:r>
              <a:rPr lang="es-ES" smtClean="0"/>
              <a:t>Cuarto nivel</a:t>
            </a:r>
            <a:endParaRPr lang="es-ES" smtClean="0"/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88F55-9230-4676-B0ED-2D05FD8BFF9B}" type="datetimeFigureOut">
              <a:rPr lang="es-VE" smtClean="0"/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D39AB-D4E0-4CB1-80FB-4ABE7717C51A}" type="slidenum">
              <a:rPr lang="es-VE" smtClean="0"/>
            </a:fld>
            <a:endParaRPr lang="es-V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 hasCustomPrompt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  <a:endParaRPr lang="es-ES" smtClean="0"/>
          </a:p>
          <a:p>
            <a:pPr lvl="1"/>
            <a:r>
              <a:rPr lang="es-ES" smtClean="0"/>
              <a:t>Segundo nivel</a:t>
            </a:r>
            <a:endParaRPr lang="es-ES" smtClean="0"/>
          </a:p>
          <a:p>
            <a:pPr lvl="2"/>
            <a:r>
              <a:rPr lang="es-ES" smtClean="0"/>
              <a:t>Tercer nivel</a:t>
            </a:r>
            <a:endParaRPr lang="es-ES" smtClean="0"/>
          </a:p>
          <a:p>
            <a:pPr lvl="3"/>
            <a:r>
              <a:rPr lang="es-ES" smtClean="0"/>
              <a:t>Cuarto nivel</a:t>
            </a:r>
            <a:endParaRPr lang="es-ES" smtClean="0"/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88F55-9230-4676-B0ED-2D05FD8BFF9B}" type="datetimeFigureOut">
              <a:rPr lang="es-VE" smtClean="0"/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D39AB-D4E0-4CB1-80FB-4ABE7717C51A}" type="slidenum">
              <a:rPr lang="es-VE" smtClean="0"/>
            </a:fld>
            <a:endParaRPr lang="es-V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  <a:endParaRPr lang="es-ES" smtClean="0"/>
          </a:p>
          <a:p>
            <a:pPr lvl="1"/>
            <a:r>
              <a:rPr lang="es-ES" smtClean="0"/>
              <a:t>Segundo nivel</a:t>
            </a:r>
            <a:endParaRPr lang="es-ES" smtClean="0"/>
          </a:p>
          <a:p>
            <a:pPr lvl="2"/>
            <a:r>
              <a:rPr lang="es-ES" smtClean="0"/>
              <a:t>Tercer nivel</a:t>
            </a:r>
            <a:endParaRPr lang="es-ES" smtClean="0"/>
          </a:p>
          <a:p>
            <a:pPr lvl="3"/>
            <a:r>
              <a:rPr lang="es-ES" smtClean="0"/>
              <a:t>Cuarto nivel</a:t>
            </a:r>
            <a:endParaRPr lang="es-ES" smtClean="0"/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F88F55-9230-4676-B0ED-2D05FD8BFF9B}" type="datetimeFigureOut">
              <a:rPr lang="es-VE" smtClean="0"/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BD39AB-D4E0-4CB1-80FB-4ABE7717C51A}" type="slidenum">
              <a:rPr lang="es-VE" smtClean="0"/>
            </a:fld>
            <a:endParaRPr lang="es-V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GI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GI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ecnologia"/>
          <p:cNvPicPr>
            <a:picLocks noChangeAspect="1" noChangeArrowheads="1" noCrop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-36830" y="-27305"/>
            <a:ext cx="9144000" cy="6972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 de texto 3"/>
          <p:cNvSpPr txBox="1"/>
          <p:nvPr/>
        </p:nvSpPr>
        <p:spPr>
          <a:xfrm>
            <a:off x="-144145" y="7029450"/>
            <a:ext cx="9334500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s-ES" sz="1600"/>
              <a:t>BNOmbre</a:t>
            </a:r>
            <a:endParaRPr lang="es-ES" sz="1600"/>
          </a:p>
        </p:txBody>
      </p:sp>
      <p:pic>
        <p:nvPicPr>
          <p:cNvPr id="11" name="Imagen 1" descr="LOGO BYU"/>
          <p:cNvPicPr>
            <a:picLocks noChangeAspect="1"/>
          </p:cNvPicPr>
          <p:nvPr/>
        </p:nvPicPr>
        <p:blipFill>
          <a:blip r:embed="rId2"/>
          <a:srcRect l="1712" r="5399" b="806"/>
          <a:stretch>
            <a:fillRect/>
          </a:stretch>
        </p:blipFill>
        <p:spPr>
          <a:xfrm>
            <a:off x="3563620" y="476885"/>
            <a:ext cx="1889125" cy="1898015"/>
          </a:xfrm>
          <a:prstGeom prst="ellipse">
            <a:avLst/>
          </a:prstGeom>
        </p:spPr>
      </p:pic>
      <p:sp>
        <p:nvSpPr>
          <p:cNvPr id="14" name="Cuadro de texto 13"/>
          <p:cNvSpPr txBox="1"/>
          <p:nvPr/>
        </p:nvSpPr>
        <p:spPr>
          <a:xfrm>
            <a:off x="2051685" y="4899025"/>
            <a:ext cx="5080000" cy="1814830"/>
          </a:xfrm>
          <a:prstGeom prst="rect">
            <a:avLst/>
          </a:prstGeom>
        </p:spPr>
        <p:txBody>
          <a:bodyPr>
            <a:spAutoFit/>
          </a:bodyPr>
          <a:p>
            <a:pPr marL="0" indent="0" algn="ctr" defTabSz="266700">
              <a:spcBef>
                <a:spcPct val="0"/>
              </a:spcBef>
              <a:spcAft>
                <a:spcPct val="0"/>
              </a:spcAft>
            </a:pPr>
            <a:r>
              <a:rPr sz="2400">
                <a:solidFill>
                  <a:schemeClr val="bg1"/>
                </a:solidFill>
                <a:latin typeface="Calibri" panose="020F0502020204030204" charset="0"/>
                <a:ea typeface="SimSun" panose="02010600030101010101" pitchFamily="2" charset="-122"/>
                <a:cs typeface="Calibri" panose="020F0502020204030204" charset="0"/>
              </a:rPr>
              <a:t>Leida J. Pereira Hidrogo</a:t>
            </a:r>
            <a:endParaRPr sz="2400">
              <a:solidFill>
                <a:schemeClr val="bg1"/>
              </a:solidFill>
              <a:latin typeface="Calibri" panose="020F0502020204030204" charset="0"/>
              <a:ea typeface="SimSun" panose="02010600030101010101" pitchFamily="2" charset="-122"/>
              <a:cs typeface="Calibri" panose="020F0502020204030204" charset="0"/>
            </a:endParaRPr>
          </a:p>
          <a:p>
            <a:pPr marL="0" indent="0" algn="ctr" defTabSz="266700">
              <a:spcBef>
                <a:spcPct val="0"/>
              </a:spcBef>
              <a:spcAft>
                <a:spcPct val="0"/>
              </a:spcAft>
            </a:pPr>
            <a:r>
              <a:rPr sz="2400">
                <a:solidFill>
                  <a:schemeClr val="bg1"/>
                </a:solidFill>
                <a:latin typeface="Calibri" panose="020F0502020204030204" charset="0"/>
                <a:ea typeface="SimSun" panose="02010600030101010101" pitchFamily="2" charset="-122"/>
                <a:cs typeface="Calibri" panose="020F0502020204030204" charset="0"/>
              </a:rPr>
              <a:t>Department, BYU-Idaho</a:t>
            </a:r>
            <a:endParaRPr sz="2400">
              <a:solidFill>
                <a:schemeClr val="bg1"/>
              </a:solidFill>
              <a:latin typeface="Calibri" panose="020F0502020204030204" charset="0"/>
              <a:ea typeface="SimSun" panose="02010600030101010101" pitchFamily="2" charset="-122"/>
              <a:cs typeface="Calibri" panose="020F0502020204030204" charset="0"/>
            </a:endParaRPr>
          </a:p>
          <a:p>
            <a:pPr marL="0" indent="0" algn="ctr" defTabSz="266700">
              <a:spcBef>
                <a:spcPct val="0"/>
              </a:spcBef>
              <a:spcAft>
                <a:spcPct val="0"/>
              </a:spcAft>
            </a:pPr>
            <a:r>
              <a:rPr lang="es-ES" sz="2400">
                <a:solidFill>
                  <a:schemeClr val="bg1"/>
                </a:solidFill>
                <a:latin typeface="Calibri" panose="020F0502020204030204" charset="0"/>
                <a:ea typeface="SimSun" panose="02010600030101010101" pitchFamily="2" charset="-122"/>
                <a:cs typeface="Calibri" panose="020F0502020204030204" charset="0"/>
              </a:rPr>
              <a:t>PC102.008</a:t>
            </a:r>
            <a:r>
              <a:rPr sz="2400">
                <a:solidFill>
                  <a:schemeClr val="bg1"/>
                </a:solidFill>
                <a:latin typeface="Calibri" panose="020F0502020204030204" charset="0"/>
                <a:ea typeface="SimSun" panose="02010600030101010101" pitchFamily="2" charset="-122"/>
                <a:cs typeface="Calibri" panose="020F0502020204030204" charset="0"/>
              </a:rPr>
              <a:t>: </a:t>
            </a:r>
            <a:r>
              <a:rPr sz="2400">
                <a:solidFill>
                  <a:schemeClr val="bg1"/>
                </a:solidFill>
                <a:latin typeface="Calibri" panose="020F0502020204030204" charset="0"/>
                <a:ea typeface="LatoWeb"/>
                <a:cs typeface="Calibri" panose="020F0502020204030204" charset="0"/>
                <a:sym typeface="+mn-ea"/>
              </a:rPr>
              <a:t>Professional Skills</a:t>
            </a:r>
            <a:endParaRPr sz="2400">
              <a:solidFill>
                <a:schemeClr val="bg1"/>
              </a:solidFill>
              <a:latin typeface="Calibri" panose="020F0502020204030204" charset="0"/>
              <a:ea typeface="SimSun" panose="02010600030101010101" pitchFamily="2" charset="-122"/>
              <a:cs typeface="Calibri" panose="020F0502020204030204" charset="0"/>
            </a:endParaRPr>
          </a:p>
          <a:p>
            <a:pPr marL="0" indent="0" algn="ctr" defTabSz="266700">
              <a:spcBef>
                <a:spcPct val="0"/>
              </a:spcBef>
              <a:spcAft>
                <a:spcPct val="0"/>
              </a:spcAft>
            </a:pPr>
            <a:r>
              <a:rPr lang="es-ES" sz="2400">
                <a:solidFill>
                  <a:schemeClr val="bg1"/>
                </a:solidFill>
                <a:latin typeface="Calibri" panose="020F0502020204030204" charset="0"/>
                <a:ea typeface="SimSun" panose="02010600030101010101" pitchFamily="2" charset="-122"/>
                <a:cs typeface="Calibri" panose="020F0502020204030204" charset="0"/>
              </a:rPr>
              <a:t>         </a:t>
            </a:r>
            <a:r>
              <a:rPr sz="2400">
                <a:solidFill>
                  <a:schemeClr val="bg1"/>
                </a:solidFill>
                <a:latin typeface="Calibri" panose="020F0502020204030204" charset="0"/>
                <a:ea typeface="SimSun" panose="02010600030101010101" pitchFamily="2" charset="-122"/>
                <a:cs typeface="Calibri" panose="020F0502020204030204" charset="0"/>
              </a:rPr>
              <a:t>Sister: </a:t>
            </a:r>
            <a:r>
              <a:rPr lang="en-US" altLang="es-ES" sz="2400" b="0" i="0">
                <a:solidFill>
                  <a:schemeClr val="bg1"/>
                </a:solidFill>
                <a:latin typeface="Times New Roman" panose="02020603050405020304"/>
                <a:ea typeface="Helvetica"/>
              </a:rPr>
              <a:t>Elena Liwagon</a:t>
            </a:r>
            <a:r>
              <a:rPr sz="2400" b="0" i="0">
                <a:latin typeface="Times New Roman" panose="02020603050405020304"/>
                <a:ea typeface="Helvetica"/>
              </a:rPr>
              <a:t>ur</a:t>
            </a:r>
            <a:r>
              <a:rPr sz="1600" b="0" i="0">
                <a:latin typeface="Times New Roman" panose="02020603050405020304"/>
                <a:ea typeface="Helvetica"/>
              </a:rPr>
              <a:t>ton</a:t>
            </a:r>
            <a:endParaRPr sz="1600" b="0" i="0">
              <a:latin typeface="Times New Roman" panose="02020603050405020304"/>
              <a:ea typeface="Helvetica"/>
            </a:endParaRPr>
          </a:p>
          <a:p>
            <a:pPr marL="0" indent="0" algn="ctr" defTabSz="266700"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Times New Roman" panose="02020603050405020304"/>
                <a:ea typeface="SimSun" panose="02010600030101010101" pitchFamily="2" charset="-122"/>
              </a:rPr>
              <a:t>Fecha: January 31, 2026</a:t>
            </a:r>
            <a:endParaRPr sz="1600">
              <a:solidFill>
                <a:srgbClr val="000000"/>
              </a:solidFill>
              <a:latin typeface="Times New Roman" panose="02020603050405020304"/>
              <a:ea typeface="SimSun" panose="02010600030101010101" pitchFamily="2" charset="-122"/>
            </a:endParaRPr>
          </a:p>
        </p:txBody>
      </p:sp>
      <p:sp>
        <p:nvSpPr>
          <p:cNvPr id="16" name="Cuadro de texto 15"/>
          <p:cNvSpPr txBox="1"/>
          <p:nvPr/>
        </p:nvSpPr>
        <p:spPr>
          <a:xfrm>
            <a:off x="1331595" y="3284855"/>
            <a:ext cx="6895465" cy="46037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2400">
                <a:solidFill>
                  <a:schemeClr val="bg1"/>
                </a:solidFill>
              </a:rPr>
              <a:t>Neighborhood Solidarity Project: Relief Aid Alliance</a:t>
            </a:r>
            <a:endParaRPr sz="24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ecnologia"/>
          <p:cNvPicPr>
            <a:picLocks noChangeAspect="1" noChangeArrowheads="1" noCrop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-36195" y="-114300"/>
            <a:ext cx="9144000" cy="6972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1188085" y="692785"/>
            <a:ext cx="7178040" cy="5384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000" b="1" dirty="0" smtClean="0">
                <a:effectLst/>
                <a:latin typeface="+mj-lt"/>
                <a:cs typeface="Arial" panose="020B0604020202020204" pitchFamily="34" charset="0"/>
              </a:rPr>
              <a:t>HO Y</a:t>
            </a:r>
            <a:endParaRPr lang="es-ES" sz="2000" b="1" dirty="0" smtClean="0">
              <a:effectLst/>
              <a:latin typeface="+mj-lt"/>
              <a:cs typeface="Arial" panose="020B0604020202020204" pitchFamily="34" charset="0"/>
            </a:endParaRPr>
          </a:p>
          <a:p>
            <a:pPr algn="ctr"/>
            <a:r>
              <a:rPr lang="en-US" altLang="es-ES" sz="3600" b="1" dirty="0" smtClean="0">
                <a:solidFill>
                  <a:schemeClr val="bg1"/>
                </a:solidFill>
                <a:effectLst/>
                <a:latin typeface="+mj-lt"/>
                <a:cs typeface="Arial" panose="020B0604020202020204" pitchFamily="34" charset="0"/>
              </a:rPr>
              <a:t>Break-Even Analysis - SWIFT Beverage</a:t>
            </a:r>
            <a:endParaRPr lang="en-US" altLang="es-ES" sz="3600" b="1" dirty="0" smtClean="0">
              <a:solidFill>
                <a:schemeClr val="bg1"/>
              </a:solidFill>
              <a:effectLst/>
              <a:latin typeface="+mj-lt"/>
              <a:cs typeface="Arial" panose="020B0604020202020204" pitchFamily="34" charset="0"/>
            </a:endParaRPr>
          </a:p>
          <a:p>
            <a:pPr algn="ctr"/>
            <a:endParaRPr lang="en-US" altLang="es-ES" sz="3600" b="1" dirty="0" smtClean="0">
              <a:solidFill>
                <a:schemeClr val="bg1"/>
              </a:solidFill>
              <a:effectLst/>
              <a:latin typeface="+mj-lt"/>
              <a:cs typeface="Arial" panose="020B0604020202020204" pitchFamily="34" charset="0"/>
            </a:endParaRPr>
          </a:p>
          <a:p>
            <a:pPr algn="ctr"/>
            <a:r>
              <a:rPr lang="en-US" altLang="es-ES" sz="3600" b="1" dirty="0" smtClean="0">
                <a:solidFill>
                  <a:schemeClr val="bg1"/>
                </a:solidFill>
                <a:effectLst/>
                <a:latin typeface="+mj-lt"/>
                <a:cs typeface="Arial" panose="020B0604020202020204" pitchFamily="34" charset="0"/>
              </a:rPr>
              <a:t>Conclusion:</a:t>
            </a:r>
            <a:endParaRPr lang="en-US" altLang="es-ES" sz="3600" b="1" dirty="0" smtClean="0">
              <a:solidFill>
                <a:schemeClr val="bg1"/>
              </a:solidFill>
              <a:effectLst/>
              <a:latin typeface="+mj-lt"/>
              <a:cs typeface="Arial" panose="020B0604020202020204" pitchFamily="34" charset="0"/>
            </a:endParaRPr>
          </a:p>
          <a:p>
            <a:pPr algn="just"/>
            <a:r>
              <a:rPr lang="en-US" altLang="es-ES" sz="3600" b="1" dirty="0" smtClean="0">
                <a:solidFill>
                  <a:schemeClr val="bg1"/>
                </a:solidFill>
                <a:effectLst/>
                <a:latin typeface="+mj-lt"/>
                <a:cs typeface="Arial" panose="020B0604020202020204" pitchFamily="34" charset="0"/>
              </a:rPr>
              <a:t>The break-even point for SWIFT is 10,107 units. With projected sales of 15,578 units, the company achieves a net profit of $2,735 and a 22% profit margin.</a:t>
            </a:r>
            <a:r>
              <a:rPr lang="es-ES" sz="3600" b="1" dirty="0" smtClean="0">
                <a:solidFill>
                  <a:schemeClr val="bg1"/>
                </a:solidFill>
                <a:effectLst/>
                <a:latin typeface="+mj-lt"/>
                <a:cs typeface="Arial" panose="020B0604020202020204" pitchFamily="34" charset="0"/>
              </a:rPr>
              <a:t>  </a:t>
            </a:r>
            <a:r>
              <a:rPr lang="es-ES" sz="2000" b="1" dirty="0" smtClean="0">
                <a:solidFill>
                  <a:schemeClr val="bg1"/>
                </a:solidFill>
                <a:effectLst/>
                <a:latin typeface="+mj-lt"/>
                <a:cs typeface="Arial" panose="020B0604020202020204" pitchFamily="34" charset="0"/>
              </a:rPr>
              <a:t> </a:t>
            </a:r>
            <a:r>
              <a:rPr lang="es-ES" sz="2000" b="1" dirty="0" smtClean="0">
                <a:effectLst/>
                <a:latin typeface="+mj-lt"/>
                <a:cs typeface="Arial" panose="020B0604020202020204" pitchFamily="34" charset="0"/>
              </a:rPr>
              <a:t>                                    CUMANÁ.</a:t>
            </a:r>
            <a:endParaRPr lang="es-VE" sz="2000" b="1" dirty="0">
              <a:effectLst/>
              <a:latin typeface="+mj-lt"/>
              <a:cs typeface="Arial" panose="020B0604020202020204" pitchFamily="34" charset="0"/>
            </a:endParaRPr>
          </a:p>
        </p:txBody>
      </p:sp>
      <p:sp>
        <p:nvSpPr>
          <p:cNvPr id="4" name="Cuadro de texto 3"/>
          <p:cNvSpPr txBox="1"/>
          <p:nvPr/>
        </p:nvSpPr>
        <p:spPr>
          <a:xfrm>
            <a:off x="-144145" y="7029450"/>
            <a:ext cx="9334500" cy="132207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1600" b="1"/>
              <a:t>Content Notes:</a:t>
            </a:r>
            <a:endParaRPr sz="1600" b="1"/>
          </a:p>
          <a:p>
            <a:pPr>
              <a:buAutoNum type="arabicPeriod"/>
            </a:pPr>
            <a:r>
              <a:rPr sz="1600" b="1"/>
              <a:t>Costs:</a:t>
            </a:r>
            <a:r>
              <a:rPr sz="1600"/>
              <a:t> Annual fixed costs of $5,053.68 and variable costs of $0.30 per unit.</a:t>
            </a:r>
            <a:endParaRPr sz="1600"/>
          </a:p>
          <a:p>
            <a:pPr>
              <a:buAutoNum type="arabicPeriod"/>
            </a:pPr>
            <a:r>
              <a:rPr sz="1600" b="1"/>
              <a:t>Strategy:</a:t>
            </a:r>
            <a:r>
              <a:rPr sz="1600"/>
              <a:t> A unit price of $0.80 with a 60% demand rate.</a:t>
            </a:r>
            <a:endParaRPr sz="1600"/>
          </a:p>
          <a:p>
            <a:pPr>
              <a:buAutoNum type="arabicPeriod"/>
            </a:pPr>
            <a:r>
              <a:rPr sz="1600" b="1"/>
              <a:t>Break-Even Point:</a:t>
            </a:r>
            <a:r>
              <a:rPr sz="1600"/>
              <a:t> Reached at 10,107 units (where revenue and costs both equal $8,086).</a:t>
            </a:r>
            <a:endParaRPr sz="1600"/>
          </a:p>
          <a:p>
            <a:pPr>
              <a:buAutoNum type="arabicPeriod"/>
            </a:pPr>
            <a:r>
              <a:rPr sz="1600" b="1"/>
              <a:t>Final Results:</a:t>
            </a:r>
            <a:r>
              <a:rPr sz="1600"/>
              <a:t> Annual revenue of $12,462 and total costs of $9,727.</a:t>
            </a:r>
            <a:endParaRPr sz="16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ecnologia"/>
          <p:cNvPicPr>
            <a:picLocks noChangeAspect="1" noChangeArrowheads="1" noCrop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-36195" y="-114300"/>
            <a:ext cx="9144000" cy="6972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 de texto 3"/>
          <p:cNvSpPr txBox="1"/>
          <p:nvPr/>
        </p:nvSpPr>
        <p:spPr>
          <a:xfrm>
            <a:off x="-144145" y="7029450"/>
            <a:ext cx="9334500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s-ES" sz="1600"/>
              <a:t>BNOmbre</a:t>
            </a:r>
            <a:endParaRPr lang="es-ES" sz="1600"/>
          </a:p>
        </p:txBody>
      </p:sp>
      <p:sp>
        <p:nvSpPr>
          <p:cNvPr id="2" name="Cuadro de texto 1"/>
          <p:cNvSpPr txBox="1"/>
          <p:nvPr/>
        </p:nvSpPr>
        <p:spPr>
          <a:xfrm>
            <a:off x="1547495" y="2987675"/>
            <a:ext cx="5777230" cy="76835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sz="4400" b="1" i="0">
                <a:solidFill>
                  <a:schemeClr val="bg1"/>
                </a:solidFill>
                <a:latin typeface="+mj-lt"/>
                <a:ea typeface="Lato Extended"/>
                <a:cs typeface="+mj-lt"/>
              </a:rPr>
              <a:t>Thank Ana for her time</a:t>
            </a:r>
            <a:endParaRPr sz="4400" b="1" i="0">
              <a:solidFill>
                <a:schemeClr val="bg1"/>
              </a:solidFill>
              <a:latin typeface="+mj-lt"/>
              <a:ea typeface="Lato Extended"/>
              <a:cs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770</Words>
  <Application>WPS Presentation</Application>
  <PresentationFormat>Presentación en pantalla (4:3)</PresentationFormat>
  <Paragraphs>26</Paragraphs>
  <Slides>3</Slides>
  <Notes>0</Notes>
  <HiddenSlides>0</HiddenSlides>
  <MMClips>1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21" baseType="lpstr">
      <vt:lpstr>Arial</vt:lpstr>
      <vt:lpstr>SimSun</vt:lpstr>
      <vt:lpstr>Wingdings</vt:lpstr>
      <vt:lpstr>Arial Black</vt:lpstr>
      <vt:lpstr>Calibri</vt:lpstr>
      <vt:lpstr>Microsoft YaHei</vt:lpstr>
      <vt:lpstr>Arial Unicode MS</vt:lpstr>
      <vt:lpstr>Lato Extended</vt:lpstr>
      <vt:lpstr>Segoe Print</vt:lpstr>
      <vt:lpstr>Times New Roman</vt:lpstr>
      <vt:lpstr>Helvetica</vt:lpstr>
      <vt:lpstr>Sitka Banner</vt:lpstr>
      <vt:lpstr>Sylfaen</vt:lpstr>
      <vt:lpstr>Tahoma</vt:lpstr>
      <vt:lpstr>Tempus Sans ITC</vt:lpstr>
      <vt:lpstr>Corbel</vt:lpstr>
      <vt:lpstr>LatoWeb</vt:lpstr>
      <vt:lpstr>Tema de Office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ANGEL</dc:creator>
  <cp:lastModifiedBy>leriennys pereira hidrogo (Nen</cp:lastModifiedBy>
  <cp:revision>33</cp:revision>
  <dcterms:created xsi:type="dcterms:W3CDTF">2021-12-07T08:56:00Z</dcterms:created>
  <dcterms:modified xsi:type="dcterms:W3CDTF">2026-02-14T20:52:06Z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84BCB1DD8F154F39A309A0D7B6FD62EA_13</vt:lpwstr>
  </property>
  <property fmtid="{D5CDD505-2E9C-101B-9397-08002B2CF9AE}" pid="3" name="KSOProductBuildVer">
    <vt:lpwstr>3082-12.2.0.23196</vt:lpwstr>
  </property>
</Properties>
</file>